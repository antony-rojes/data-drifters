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Data Drifters, an autonomous civil legal AI architecture designed to solve the critical vulnerabilities of legal hallucinations, cross-case data leakage, and citation fabrication using an air-gapped hybrid RAG and pre-audit critic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issue in legal AI isn't language capability—it's reliability and confidentiality. When an LLM cites a non-existent Supreme Court precedent or leaks Case A's details into Case B, the consequences are disastrous. Our project was built from the ground up to solve these specific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tripartite architecture: Ingestion through PyArrow and ChromaDB, Reasoning through local open-weight LLMs and an ML classifier, and our core defense layer—the Agentic Critic and Contradiction Backtracking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legal research, semantic search alone often misses exact section numbers, while keyword search misses semantic context. Our RRF hybrid engine provides the best of both worlds. Furthermore, our metadata filter guarantees that Case A and Case B remain strictly air-gapped.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Agentic Critic is our anti-hallucination moat. It takes the draft legal answer, disassembles it into individual assertions, and scores each against the retrieved court documents. If a claim lacks precedent proof, the system refuses to speculate and outputs our standardized unresolved boundary message.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two top open-weight models contradict each other on statutory interpretation, our backtracking engine traces the reasoning tree back to the root step where the error originated, cross-examines the root against ground truth court precedent, prunes the erroneous branch, and outputs the consensus verdict.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 datasets are enormous. Loading 31 million records into memory is impossible on standard machines. We engineered a streaming ingestion pipeline using PyArrow batching that streams 1,000 records at a time directly from disk into ChromaDB and BM25 with constant, minimal memory usage.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LLMs, we trained a specialized machine learning classifier using Scikit-Learn that achieves 94.12% accuracy across five civil legal filing categories. It serves as both a document classifier and an intelligent context router that boosts retrieval precision.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component is thoroughly tested. Our automated test suite runs 29 tests across hybrid retrieval, case isolation, critic rejection, and model inference in just 1.58 seconds, proving our architecture is robust and ready for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Data Drifters transforms legal AI from a speculative text generator into an audited, deterministic, and privacy-first decision support system. We are excited to expand this with e-Courts integration and multimodal analysis. 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spcAft>
                <a:spcPts val="1400"/>
              </a:spcAft>
              <a:defRPr sz="1300" b="1">
                <a:solidFill>
                  <a:srgbClr val="06B6D4"/>
                </a:solidFill>
              </a:defRPr>
            </a:pPr>
            <a:r>
              <a:t>OFFLINE-NATIVE • AGENTIC PRE-AUDIT • VERIFIED LEGAL RAG</a:t>
            </a:r>
          </a:p>
          <a:p>
            <a:pPr>
              <a:spcAft>
                <a:spcPts val="800"/>
              </a:spcAft>
              <a:defRPr sz="4600" b="1">
                <a:solidFill>
                  <a:srgbClr val="F8FAFC"/>
                </a:solidFill>
              </a:defRPr>
            </a:pPr>
            <a:r>
              <a:t>DATA DRIFTERS</a:t>
            </a:r>
          </a:p>
          <a:p>
            <a:pPr>
              <a:spcAft>
                <a:spcPts val="2000"/>
              </a:spcAft>
              <a:defRPr sz="2400">
                <a:solidFill>
                  <a:srgbClr val="3B82F6"/>
                </a:solidFill>
              </a:defRPr>
            </a:pPr>
            <a:r>
              <a:t>Autonomous Civil Legal AI &amp; Pre-Audit Verification Platform</a:t>
            </a:r>
          </a:p>
          <a:p>
            <a:pPr>
              <a:defRPr sz="1400">
                <a:solidFill>
                  <a:srgbClr val="94A3B8"/>
                </a:solidFill>
              </a:defRPr>
            </a:pPr>
            <a:r>
              <a:t>High-Precision Local Hybrid RAG (ChromaDB + BM25) • Agentic Critic Guardrails • Dual-Model Contradiction Backtracking (Qwen3-32B &amp; Gemma 3) • 94.1% ML Filing Classifier</a:t>
            </a:r>
          </a:p>
        </p:txBody>
      </p:sp>
      <p:sp>
        <p:nvSpPr>
          <p:cNvPr id="4" name="Rounded Rectangle 3"/>
          <p:cNvSpPr/>
          <p:nvPr/>
        </p:nvSpPr>
        <p:spPr>
          <a:xfrm>
            <a:off x="914400" y="5120640"/>
            <a:ext cx="10362895" cy="1005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F8FAFC"/>
                </a:solidFill>
              </a:defRPr>
            </a:pPr>
            <a:r>
              <a:t>Engineered by Antony Rojes &amp; Vikash L   |   GitHub: Antony-Rojes/Data-Drifters   |   Branch: main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Critical Failure Modes in Existing Legal AI Deployments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[LEGAL RISK] Hallucinations &amp; Leakage</a:t>
            </a:r>
          </a:p>
          <a:p>
            <a:pPr>
              <a:spcAft>
                <a:spcPts val="800"/>
              </a:spcAft>
              <a:defRPr sz="1300">
                <a:solidFill>
                  <a:srgbClr val="F8FAFC"/>
                </a:solidFill>
              </a:defRPr>
            </a:pPr>
            <a:r>
              <a:t>• Fabricated Citations: Generative LLMs routinely invent fake case law citations and non-existent section rules.</a:t>
            </a:r>
          </a:p>
          <a:p>
            <a:pPr>
              <a:spcAft>
                <a:spcPts val="800"/>
              </a:spcAft>
              <a:defRPr sz="1300">
                <a:solidFill>
                  <a:srgbClr val="F8FAFC"/>
                </a:solidFill>
              </a:defRPr>
            </a:pPr>
            <a:r>
              <a:t>• Cross-Case Leakage: Generic RAG pipelines blend facts between unrelated civil cases, violating judicial case boundaries.</a:t>
            </a:r>
          </a:p>
          <a:p>
            <a:pPr>
              <a:spcAft>
                <a:spcPts val="800"/>
              </a:spcAft>
              <a:defRPr sz="1300">
                <a:solidFill>
                  <a:srgbClr val="F8FAFC"/>
                </a:solidFill>
              </a:defRPr>
            </a:pPr>
            <a:r>
              <a:t>• Fatal Legal Repercussions: Using hallucinated precedents in court filings leads to judicial sanctions and malpractice claims.</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[TECH DEBT] Infrastructure Bottlenecks</a:t>
            </a:r>
          </a:p>
          <a:p>
            <a:pPr>
              <a:spcAft>
                <a:spcPts val="800"/>
              </a:spcAft>
              <a:defRPr sz="1300">
                <a:solidFill>
                  <a:srgbClr val="F8FAFC"/>
                </a:solidFill>
              </a:defRPr>
            </a:pPr>
            <a:r>
              <a:t>• RAM Exhaustion on Big Data: High-volume court datasets (31M+ records) crash conventional in-memory loaders.</a:t>
            </a:r>
          </a:p>
          <a:p>
            <a:pPr>
              <a:spcAft>
                <a:spcPts val="800"/>
              </a:spcAft>
              <a:defRPr sz="1300">
                <a:solidFill>
                  <a:srgbClr val="F8FAFC"/>
                </a:solidFill>
              </a:defRPr>
            </a:pPr>
            <a:r>
              <a:t>• Cloud Privacy Violations: Sending client depositions and litigation filings to public APIs breaches attorney-client privilege.</a:t>
            </a:r>
          </a:p>
          <a:p>
            <a:pPr>
              <a:spcAft>
                <a:spcPts val="800"/>
              </a:spcAft>
              <a:defRPr sz="1300">
                <a:solidFill>
                  <a:srgbClr val="F8FAFC"/>
                </a:solidFill>
              </a:defRPr>
            </a:pPr>
            <a:r>
              <a:t>• No Verification Stage: Answers are streamed directly to users without validating claims against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Data Drifters: End-to-End Civil Legal System Matrix</a:t>
            </a:r>
          </a:p>
        </p:txBody>
      </p:sp>
      <p:sp>
        <p:nvSpPr>
          <p:cNvPr id="5" name="Rounded Rectangle 4"/>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4206240"/>
          </a:xfrm>
          <a:prstGeom prst="rect">
            <a:avLst/>
          </a:prstGeom>
          <a:noFill/>
        </p:spPr>
        <p:txBody>
          <a:bodyPr wrap="square">
            <a:spAutoFit/>
          </a:bodyPr>
          <a:lstStyle/>
          <a:p>
            <a:pPr>
              <a:spcAft>
                <a:spcPts val="1200"/>
              </a:spcAft>
              <a:defRPr sz="1800" b="1">
                <a:solidFill>
                  <a:srgbClr val="06B6D4"/>
                </a:solidFill>
              </a:defRPr>
            </a:pPr>
            <a:r>
              <a:t>[INGEST] 1. Ingestion &amp; Retrieval</a:t>
            </a:r>
          </a:p>
          <a:p>
            <a:pPr>
              <a:spcAft>
                <a:spcPts val="800"/>
              </a:spcAft>
              <a:defRPr sz="1300">
                <a:solidFill>
                  <a:srgbClr val="F8FAFC"/>
                </a:solidFill>
              </a:defRPr>
            </a:pPr>
            <a:r>
              <a:t>• PyArrow Parquet batch streaming (iter_batches) consuming up to 31M records.</a:t>
            </a:r>
          </a:p>
          <a:p>
            <a:pPr>
              <a:spcAft>
                <a:spcPts val="800"/>
              </a:spcAft>
              <a:defRPr sz="1300">
                <a:solidFill>
                  <a:srgbClr val="F8FAFC"/>
                </a:solidFill>
              </a:defRPr>
            </a:pPr>
            <a:r>
              <a:t>• Local ChromaDB dense vector store with 100% offline embedding model.</a:t>
            </a:r>
          </a:p>
          <a:p>
            <a:pPr>
              <a:spcAft>
                <a:spcPts val="800"/>
              </a:spcAft>
              <a:defRPr sz="1300">
                <a:solidFill>
                  <a:srgbClr val="F8FAFC"/>
                </a:solidFill>
              </a:defRPr>
            </a:pPr>
            <a:r>
              <a:t>• Rank-BM25 sparse lexical engine for exact statutory sections.</a:t>
            </a:r>
          </a:p>
          <a:p>
            <a:pPr>
              <a:spcAft>
                <a:spcPts val="800"/>
              </a:spcAft>
              <a:defRPr sz="1300">
                <a:solidFill>
                  <a:srgbClr val="F8FAFC"/>
                </a:solidFill>
              </a:defRPr>
            </a:pPr>
            <a:r>
              <a:t>• Strict Case Boundary Isolation hard-filtering.</a:t>
            </a:r>
          </a:p>
        </p:txBody>
      </p:sp>
      <p:sp>
        <p:nvSpPr>
          <p:cNvPr id="7" name="Rounded Rectangle 6"/>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26080" cy="4206240"/>
          </a:xfrm>
          <a:prstGeom prst="rect">
            <a:avLst/>
          </a:prstGeom>
          <a:noFill/>
        </p:spPr>
        <p:txBody>
          <a:bodyPr wrap="square">
            <a:spAutoFit/>
          </a:bodyPr>
          <a:lstStyle/>
          <a:p>
            <a:pPr>
              <a:spcAft>
                <a:spcPts val="1200"/>
              </a:spcAft>
              <a:defRPr sz="1800" b="1">
                <a:solidFill>
                  <a:srgbClr val="06B6D4"/>
                </a:solidFill>
              </a:defRPr>
            </a:pPr>
            <a:r>
              <a:t>[REASONING] 2. Reasoning &amp; Inference</a:t>
            </a:r>
          </a:p>
          <a:p>
            <a:pPr>
              <a:spcAft>
                <a:spcPts val="800"/>
              </a:spcAft>
              <a:defRPr sz="1300">
                <a:solidFill>
                  <a:srgbClr val="F8FAFC"/>
                </a:solidFill>
              </a:defRPr>
            </a:pPr>
            <a:r>
              <a:t>• Pluggable BaseLLMProvider interface for open-weight local LLMs.</a:t>
            </a:r>
          </a:p>
          <a:p>
            <a:pPr>
              <a:spcAft>
                <a:spcPts val="800"/>
              </a:spcAft>
              <a:defRPr sz="1300">
                <a:solidFill>
                  <a:srgbClr val="F8FAFC"/>
                </a:solidFill>
              </a:defRPr>
            </a:pPr>
            <a:r>
              <a:t>• Tested on Qwen3-32B and Gemma 3 (27B) via local endpoints.</a:t>
            </a:r>
          </a:p>
          <a:p>
            <a:pPr>
              <a:spcAft>
                <a:spcPts val="800"/>
              </a:spcAft>
              <a:defRPr sz="1300">
                <a:solidFill>
                  <a:srgbClr val="F8FAFC"/>
                </a:solidFill>
              </a:defRPr>
            </a:pPr>
            <a:r>
              <a:t>• MockLocalLLMProvider for offline deterministic CI testing.</a:t>
            </a:r>
          </a:p>
          <a:p>
            <a:pPr>
              <a:spcAft>
                <a:spcPts val="800"/>
              </a:spcAft>
              <a:defRPr sz="1300">
                <a:solidFill>
                  <a:srgbClr val="F8FAFC"/>
                </a:solidFill>
              </a:defRPr>
            </a:pPr>
            <a:r>
              <a:t>• Supervised ML Classifier for 5 civil filing categories.</a:t>
            </a:r>
          </a:p>
        </p:txBody>
      </p:sp>
      <p:sp>
        <p:nvSpPr>
          <p:cNvPr id="9" name="Rounded Rectangle 8"/>
          <p:cNvSpPr/>
          <p:nvPr/>
        </p:nvSpPr>
        <p:spPr>
          <a:xfrm>
            <a:off x="8046720" y="1645920"/>
            <a:ext cx="33832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206240"/>
          </a:xfrm>
          <a:prstGeom prst="rect">
            <a:avLst/>
          </a:prstGeom>
          <a:noFill/>
        </p:spPr>
        <p:txBody>
          <a:bodyPr wrap="square">
            <a:spAutoFit/>
          </a:bodyPr>
          <a:lstStyle/>
          <a:p>
            <a:pPr>
              <a:spcAft>
                <a:spcPts val="1200"/>
              </a:spcAft>
              <a:defRPr sz="1800" b="1">
                <a:solidFill>
                  <a:srgbClr val="06B6D4"/>
                </a:solidFill>
              </a:defRPr>
            </a:pPr>
            <a:r>
              <a:t>[DEFENSE] 3. Audit &amp; Verification</a:t>
            </a:r>
          </a:p>
          <a:p>
            <a:pPr>
              <a:spcAft>
                <a:spcPts val="800"/>
              </a:spcAft>
              <a:defRPr sz="1300">
                <a:solidFill>
                  <a:srgbClr val="F8FAFC"/>
                </a:solidFill>
              </a:defRPr>
            </a:pPr>
            <a:r>
              <a:t>• Agentic Pre-Audit Critic intercepting 100% of generated responses.</a:t>
            </a:r>
          </a:p>
          <a:p>
            <a:pPr>
              <a:spcAft>
                <a:spcPts val="800"/>
              </a:spcAft>
              <a:defRPr sz="1300">
                <a:solidFill>
                  <a:srgbClr val="F8FAFC"/>
                </a:solidFill>
              </a:defRPr>
            </a:pPr>
            <a:r>
              <a:t>• Atomic factual assertion extraction &amp; containment audit.</a:t>
            </a:r>
          </a:p>
          <a:p>
            <a:pPr>
              <a:spcAft>
                <a:spcPts val="800"/>
              </a:spcAft>
              <a:defRPr sz="1300">
                <a:solidFill>
                  <a:srgbClr val="F8FAFC"/>
                </a:solidFill>
              </a:defRPr>
            </a:pPr>
            <a:r>
              <a:t>• Automated fallback to missing precedent proof.</a:t>
            </a:r>
          </a:p>
          <a:p>
            <a:pPr>
              <a:spcAft>
                <a:spcPts val="800"/>
              </a:spcAft>
              <a:defRPr sz="1300">
                <a:solidFill>
                  <a:srgbClr val="F8FAFC"/>
                </a:solidFill>
              </a:defRPr>
            </a:pPr>
            <a:r>
              <a:t>• Contradiction backtracking engine resolving model disputes.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Local Hybrid RAG with Mathematical Case Isolation</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[RETRIEVAL] Dual Hybrid Retrieval Pipeline</a:t>
            </a:r>
          </a:p>
          <a:p>
            <a:pPr>
              <a:spcAft>
                <a:spcPts val="800"/>
              </a:spcAft>
              <a:defRPr sz="1300">
                <a:solidFill>
                  <a:srgbClr val="F8FAFC"/>
                </a:solidFill>
              </a:defRPr>
            </a:pPr>
            <a:r>
              <a:t>• Dense Semantic Search: ChromaDB vector search indexing conceptual meanings with offline dense embeddings.</a:t>
            </a:r>
          </a:p>
          <a:p>
            <a:pPr>
              <a:spcAft>
                <a:spcPts val="800"/>
              </a:spcAft>
              <a:defRPr sz="1300">
                <a:solidFill>
                  <a:srgbClr val="F8FAFC"/>
                </a:solidFill>
              </a:defRPr>
            </a:pPr>
            <a:r>
              <a:t>• Sparse Lexical Search: Rank-BM25 keyword search targeting exact statutory tokens (e.g. 'Section 167(2) CrPC').</a:t>
            </a:r>
          </a:p>
          <a:p>
            <a:pPr>
              <a:spcAft>
                <a:spcPts val="800"/>
              </a:spcAft>
              <a:defRPr sz="1300">
                <a:solidFill>
                  <a:srgbClr val="F8FAFC"/>
                </a:solidFill>
              </a:defRPr>
            </a:pPr>
            <a:r>
              <a:t>• Reciprocal Rank Fusion (RRF): Blends sparse and dense ranking scores with smoothing constant k=60.</a:t>
            </a:r>
          </a:p>
          <a:p>
            <a:pPr>
              <a:spcAft>
                <a:spcPts val="800"/>
              </a:spcAft>
              <a:defRPr sz="1300">
                <a:solidFill>
                  <a:srgbClr val="F8FAFC"/>
                </a:solidFill>
              </a:defRPr>
            </a:pPr>
            <a:r>
              <a:t>• Balanced Results: Retrieves conceptually relevant rulings while ensuring exact statutory matches rank at top.</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[SECURITY] Guaranteed Case Boundary Isolation</a:t>
            </a:r>
          </a:p>
          <a:p>
            <a:pPr>
              <a:spcAft>
                <a:spcPts val="800"/>
              </a:spcAft>
              <a:defRPr sz="1300">
                <a:solidFill>
                  <a:srgbClr val="F8FAFC"/>
                </a:solidFill>
              </a:defRPr>
            </a:pPr>
            <a:r>
              <a:t>• Deterministic Partitioning: ChromaDB queries strictly apply metadata filter: {'case_id': target_case_id}.</a:t>
            </a:r>
          </a:p>
          <a:p>
            <a:pPr>
              <a:spcAft>
                <a:spcPts val="800"/>
              </a:spcAft>
              <a:defRPr sz="1300">
                <a:solidFill>
                  <a:srgbClr val="F8FAFC"/>
                </a:solidFill>
              </a:defRPr>
            </a:pPr>
            <a:r>
              <a:t>• Zero Bleed Guarantee: Queries for Case A mathematically cannot access or view Case B documents.</a:t>
            </a:r>
          </a:p>
          <a:p>
            <a:pPr>
              <a:spcAft>
                <a:spcPts val="800"/>
              </a:spcAft>
              <a:defRPr sz="1300">
                <a:solidFill>
                  <a:srgbClr val="F8FAFC"/>
                </a:solidFill>
              </a:defRPr>
            </a:pPr>
            <a:r>
              <a:t>• Dynamic Case Switching: Seamless switching across active case archives via REST API without restarting the store.</a:t>
            </a:r>
          </a:p>
          <a:p>
            <a:pPr>
              <a:spcAft>
                <a:spcPts val="800"/>
              </a:spcAft>
              <a:defRPr sz="1300">
                <a:solidFill>
                  <a:srgbClr val="F8FAFC"/>
                </a:solidFill>
              </a:defRPr>
            </a:pPr>
            <a:r>
              <a:t>• 100% Offline: Zero telemetry, zero external embedding API calls.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Agentic Critic: Pre-Audit Interceptor &amp; Citation Provenance</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[PRE-AUDIT] Pre-Audit Interception Mechanism</a:t>
            </a:r>
          </a:p>
          <a:p>
            <a:pPr>
              <a:spcAft>
                <a:spcPts val="800"/>
              </a:spcAft>
              <a:defRPr sz="1300">
                <a:solidFill>
                  <a:srgbClr val="F8FAFC"/>
                </a:solidFill>
              </a:defRPr>
            </a:pPr>
            <a:r>
              <a:t>• Zero-Trust Interceptor: Answers never reach the user directly; every output is audited in a staging pipeline.</a:t>
            </a:r>
          </a:p>
          <a:p>
            <a:pPr>
              <a:spcAft>
                <a:spcPts val="800"/>
              </a:spcAft>
              <a:defRPr sz="1300">
                <a:solidFill>
                  <a:srgbClr val="F8FAFC"/>
                </a:solidFill>
              </a:defRPr>
            </a:pPr>
            <a:r>
              <a:t>• Assertion Disassembly: Breaks draft responses into distinct legal and factual propositions.</a:t>
            </a:r>
          </a:p>
          <a:p>
            <a:pPr>
              <a:spcAft>
                <a:spcPts val="800"/>
              </a:spcAft>
              <a:defRPr sz="1300">
                <a:solidFill>
                  <a:srgbClr val="F8FAFC"/>
                </a:solidFill>
              </a:defRPr>
            </a:pPr>
            <a:r>
              <a:t>• N-Gram Evidence Cross-Audit: Verifies each assertion against retrieved case chunks with word-overlap grounding.</a:t>
            </a:r>
          </a:p>
          <a:p>
            <a:pPr>
              <a:spcAft>
                <a:spcPts val="800"/>
              </a:spcAft>
              <a:defRPr sz="1300">
                <a:solidFill>
                  <a:srgbClr val="F8FAFC"/>
                </a:solidFill>
              </a:defRPr>
            </a:pPr>
            <a:r>
              <a:t>• Confidence Scoring: Computes an aggregate groundedness confidence score (0.0 to 1.0).</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[FAIL-SAFE] Zero-Hallucination Fallback &amp; Citations</a:t>
            </a:r>
          </a:p>
          <a:p>
            <a:pPr>
              <a:spcAft>
                <a:spcPts val="800"/>
              </a:spcAft>
              <a:defRPr sz="1300">
                <a:solidFill>
                  <a:srgbClr val="F8FAFC"/>
                </a:solidFill>
              </a:defRPr>
            </a:pPr>
            <a:r>
              <a:t>• Strict Threshold Policy: If groundedness score falls below 0.35, the entire response is rejected.</a:t>
            </a:r>
          </a:p>
          <a:p>
            <a:pPr>
              <a:spcAft>
                <a:spcPts val="800"/>
              </a:spcAft>
              <a:defRPr sz="1300">
                <a:solidFill>
                  <a:srgbClr val="F8FAFC"/>
                </a:solidFill>
              </a:defRPr>
            </a:pPr>
            <a:r>
              <a:t>• Deterministic Fail-Safe: Emits the exact verdict: 'MISSING INFO: PRECEDENT PROOF UNRESOLVED IN RETRIEVAL BOUNDARIES'.</a:t>
            </a:r>
          </a:p>
          <a:p>
            <a:pPr>
              <a:spcAft>
                <a:spcPts val="800"/>
              </a:spcAft>
              <a:defRPr sz="1300">
                <a:solidFill>
                  <a:srgbClr val="F8FAFC"/>
                </a:solidFill>
              </a:defRPr>
            </a:pPr>
            <a:r>
              <a:t>• Verifiable Citations Only: Citations are synthesized strictly from retrieved chunk metadata (Case ID, Court, Date).</a:t>
            </a:r>
          </a:p>
          <a:p>
            <a:pPr>
              <a:spcAft>
                <a:spcPts val="800"/>
              </a:spcAft>
              <a:defRPr sz="1300">
                <a:solidFill>
                  <a:srgbClr val="F8FAFC"/>
                </a:solidFill>
              </a:defRPr>
            </a:pPr>
            <a:r>
              <a:t>• Purges Hallucinations: Model is physically prohibited from inventing court identifiers.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Dual-Model Contradiction Backtracking (Qwen3-32B vs Gemma 3)</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[DETECTION] Contradiction Identification Engine</a:t>
            </a:r>
          </a:p>
          <a:p>
            <a:pPr>
              <a:spcAft>
                <a:spcPts val="800"/>
              </a:spcAft>
              <a:defRPr sz="1300">
                <a:solidFill>
                  <a:srgbClr val="F8FAFC"/>
                </a:solidFill>
              </a:defRPr>
            </a:pPr>
            <a:r>
              <a:t>• Multi-Model Inquiry: Qwen3-32B and Gemma 3 formulate parallel multi-step reasoning chains for legal inquiries.</a:t>
            </a:r>
          </a:p>
          <a:p>
            <a:pPr>
              <a:spcAft>
                <a:spcPts val="800"/>
              </a:spcAft>
              <a:defRPr sz="1300">
                <a:solidFill>
                  <a:srgbClr val="F8FAFC"/>
                </a:solidFill>
              </a:defRPr>
            </a:pPr>
            <a:r>
              <a:t>• Real Scenario: Qwen claims 60-day default bail applies to Section 302 IPC; Gemma claims statutory period is 90 days.</a:t>
            </a:r>
          </a:p>
          <a:p>
            <a:pPr>
              <a:spcAft>
                <a:spcPts val="800"/>
              </a:spcAft>
              <a:defRPr sz="1300">
                <a:solidFill>
                  <a:srgbClr val="F8FAFC"/>
                </a:solidFill>
              </a:defRPr>
            </a:pPr>
            <a:r>
              <a:t>• Conflict Detection: DualModelContradictionResolver identifies conflicting rules linked to identical statutory anchors.</a:t>
            </a:r>
          </a:p>
          <a:p>
            <a:pPr>
              <a:spcAft>
                <a:spcPts val="800"/>
              </a:spcAft>
              <a:defRPr sz="1300">
                <a:solidFill>
                  <a:srgbClr val="F8FAFC"/>
                </a:solidFill>
              </a:defRPr>
            </a:pPr>
            <a:r>
              <a:t>• Proposition Trees: Models maintain parent_step_id DAG links for every intermediate deduction.</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[BACKTRACKING] Tree Rollback &amp; Precedent Arbitration</a:t>
            </a:r>
          </a:p>
          <a:p>
            <a:pPr>
              <a:spcAft>
                <a:spcPts val="800"/>
              </a:spcAft>
              <a:defRPr sz="1300">
                <a:solidFill>
                  <a:srgbClr val="F8FAFC"/>
                </a:solidFill>
              </a:defRPr>
            </a:pPr>
            <a:r>
              <a:t>• Backtracking Traversal: System walks parent pointers up the reasoning tree to pinpoint root divergence point.</a:t>
            </a:r>
          </a:p>
          <a:p>
            <a:pPr>
              <a:spcAft>
                <a:spcPts val="800"/>
              </a:spcAft>
              <a:defRPr sz="1300">
                <a:solidFill>
                  <a:srgbClr val="F8FAFC"/>
                </a:solidFill>
              </a:defRPr>
            </a:pPr>
            <a:r>
              <a:t>• Ground Truth Cross-Examination: Conflicting assertions evaluated against AIR 2023 SC 411 precedent record.</a:t>
            </a:r>
          </a:p>
          <a:p>
            <a:pPr>
              <a:spcAft>
                <a:spcPts val="800"/>
              </a:spcAft>
              <a:defRPr sz="1300">
                <a:solidFill>
                  <a:srgbClr val="F8FAFC"/>
                </a:solidFill>
              </a:defRPr>
            </a:pPr>
            <a:r>
              <a:t>• Branch Pruning: Invalid 60-day branch from Qwen3 is pruned; verified 90-day branch from Gemma 3 is accepted.</a:t>
            </a:r>
          </a:p>
          <a:p>
            <a:pPr>
              <a:spcAft>
                <a:spcPts val="800"/>
              </a:spcAft>
              <a:defRPr sz="1300">
                <a:solidFill>
                  <a:srgbClr val="F8FAFC"/>
                </a:solidFill>
              </a:defRPr>
            </a:pPr>
            <a:r>
              <a:t>• Automated Consensus: Synthesizes final grounded legal opinion backed by confirmed Supreme Court authority.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High-Throughput PyArrow Streaming for 31M+ Court Records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[PYARROW] Streaming Pipeline Architecture</a:t>
            </a:r>
          </a:p>
          <a:p>
            <a:pPr>
              <a:spcAft>
                <a:spcPts val="800"/>
              </a:spcAft>
              <a:defRPr sz="1300">
                <a:solidFill>
                  <a:srgbClr val="F8FAFC"/>
                </a:solidFill>
              </a:defRPr>
            </a:pPr>
            <a:r>
              <a:t>• PyArrow Parquet Batching: Implemented via pyarrow.parquet.ParquetFile.iter_batches().</a:t>
            </a:r>
          </a:p>
          <a:p>
            <a:pPr>
              <a:spcAft>
                <a:spcPts val="800"/>
              </a:spcAft>
              <a:defRPr sz="1300">
                <a:solidFill>
                  <a:srgbClr val="F8FAFC"/>
                </a:solidFill>
              </a:defRPr>
            </a:pPr>
            <a:r>
              <a:t>• Micro-Batch Window: Configurable 1,000-record batch ingestion preventing RAM spikes.</a:t>
            </a:r>
          </a:p>
          <a:p>
            <a:pPr>
              <a:spcAft>
                <a:spcPts val="800"/>
              </a:spcAft>
              <a:defRPr sz="1300">
                <a:solidFill>
                  <a:srgbClr val="F8FAFC"/>
                </a:solidFill>
              </a:defRPr>
            </a:pPr>
            <a:r>
              <a:t>• Zero-Copy Buffer: Reads compressed columnar blocks directly from disk.</a:t>
            </a:r>
          </a:p>
          <a:p>
            <a:pPr>
              <a:spcAft>
                <a:spcPts val="800"/>
              </a:spcAft>
              <a:defRPr sz="1300">
                <a:solidFill>
                  <a:srgbClr val="F8FAFC"/>
                </a:solidFill>
              </a:defRPr>
            </a:pPr>
            <a:r>
              <a:t>• Extreme Scale: Smoothly processes multi-million row repositories without crashing memory limits.</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[METADATA] Metadata Preservation &amp; Indexing</a:t>
            </a:r>
          </a:p>
          <a:p>
            <a:pPr>
              <a:spcAft>
                <a:spcPts val="800"/>
              </a:spcAft>
              <a:defRPr sz="1300">
                <a:solidFill>
                  <a:srgbClr val="F8FAFC"/>
                </a:solidFill>
              </a:defRPr>
            </a:pPr>
            <a:r>
              <a:t>• Authentic Data Fields: Extracts case_id, doc_id, court, date, jurisdiction, and citation tags.</a:t>
            </a:r>
          </a:p>
          <a:p>
            <a:pPr>
              <a:spcAft>
                <a:spcPts val="800"/>
              </a:spcAft>
              <a:defRPr sz="1300">
                <a:solidFill>
                  <a:srgbClr val="F8FAFC"/>
                </a:solidFill>
              </a:defRPr>
            </a:pPr>
            <a:r>
              <a:t>• Parallel Vector &amp; BM25 Mapping: Batches concurrently populate ChromaDB collections and BM25 token corpus.</a:t>
            </a:r>
          </a:p>
          <a:p>
            <a:pPr>
              <a:spcAft>
                <a:spcPts val="800"/>
              </a:spcAft>
              <a:defRPr sz="1300">
                <a:solidFill>
                  <a:srgbClr val="F8FAFC"/>
                </a:solidFill>
              </a:defRPr>
            </a:pPr>
            <a:r>
              <a:t>• Graceful Degradation: Handles sparse or missing fields without data corruption.</a:t>
            </a:r>
          </a:p>
          <a:p>
            <a:pPr>
              <a:spcAft>
                <a:spcPts val="800"/>
              </a:spcAft>
              <a:defRPr sz="1300">
                <a:solidFill>
                  <a:srgbClr val="F8FAFC"/>
                </a:solidFill>
              </a:defRPr>
            </a:pPr>
            <a:r>
              <a:t>• REST API Trigger: POST /parquet/ingest triggers streaming ingestion with real-time status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Trained Machine Learning Filing Classifier (94.12% Accuracy)</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[ML PIPELINE] Model Pipeline &amp; Architecture</a:t>
            </a:r>
          </a:p>
          <a:p>
            <a:pPr>
              <a:spcAft>
                <a:spcPts val="800"/>
              </a:spcAft>
              <a:defRPr sz="1300">
                <a:solidFill>
                  <a:srgbClr val="F8FAFC"/>
                </a:solidFill>
              </a:defRPr>
            </a:pPr>
            <a:r>
              <a:t>• Model Type: TF-IDF Vectorizer (1-2 ngrams, sublinear TF) + Multinomial Logistic Regression.</a:t>
            </a:r>
          </a:p>
          <a:p>
            <a:pPr>
              <a:spcAft>
                <a:spcPts val="800"/>
              </a:spcAft>
              <a:defRPr sz="1300">
                <a:solidFill>
                  <a:srgbClr val="F8FAFC"/>
                </a:solidFill>
              </a:defRPr>
            </a:pPr>
            <a:r>
              <a:t>• Validation Accuracy: 94.12% across stratified test samples.</a:t>
            </a:r>
          </a:p>
          <a:p>
            <a:pPr>
              <a:spcAft>
                <a:spcPts val="800"/>
              </a:spcAft>
              <a:defRPr sz="1300">
                <a:solidFill>
                  <a:srgbClr val="F8FAFC"/>
                </a:solidFill>
              </a:defRPr>
            </a:pPr>
            <a:r>
              <a:t>• Artifact: Serialized to data/models/legal_classifier.joblib for sub-millisecond inference.</a:t>
            </a:r>
          </a:p>
          <a:p>
            <a:pPr>
              <a:spcAft>
                <a:spcPts val="800"/>
              </a:spcAft>
              <a:defRPr sz="1300">
                <a:solidFill>
                  <a:srgbClr val="F8FAFC"/>
                </a:solidFill>
              </a:defRPr>
            </a:pPr>
            <a:r>
              <a:t>• Balanced Class Weights: Prevents bias across rarer legal petition types.</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[CATEGORIES] 5 Core Legal Classes &amp; RAG Routing</a:t>
            </a:r>
          </a:p>
          <a:p>
            <a:pPr>
              <a:spcAft>
                <a:spcPts val="800"/>
              </a:spcAft>
              <a:defRPr sz="1300">
                <a:solidFill>
                  <a:srgbClr val="F8FAFC"/>
                </a:solidFill>
              </a:defRPr>
            </a:pPr>
            <a:r>
              <a:t>• 1. Bail Applications (CrPC / BNSS)</a:t>
            </a:r>
          </a:p>
          <a:p>
            <a:pPr>
              <a:spcAft>
                <a:spcPts val="800"/>
              </a:spcAft>
              <a:defRPr sz="1300">
                <a:solidFill>
                  <a:srgbClr val="F8FAFC"/>
                </a:solidFill>
              </a:defRPr>
            </a:pPr>
            <a:r>
              <a:t>• 2. FIR &amp; Criminal Complaints (IPC / BNS)</a:t>
            </a:r>
          </a:p>
          <a:p>
            <a:pPr>
              <a:spcAft>
                <a:spcPts val="800"/>
              </a:spcAft>
              <a:defRPr sz="1300">
                <a:solidFill>
                  <a:srgbClr val="F8FAFC"/>
                </a:solidFill>
              </a:defRPr>
            </a:pPr>
            <a:r>
              <a:t>• 3. Police Charge Sheets &amp; Investigation Records</a:t>
            </a:r>
          </a:p>
          <a:p>
            <a:pPr>
              <a:spcAft>
                <a:spcPts val="800"/>
              </a:spcAft>
              <a:defRPr sz="1300">
                <a:solidFill>
                  <a:srgbClr val="F8FAFC"/>
                </a:solidFill>
              </a:defRPr>
            </a:pPr>
            <a:r>
              <a:t>• 4. Civil Written Statements &amp; Pleadings</a:t>
            </a:r>
          </a:p>
          <a:p>
            <a:pPr>
              <a:spcAft>
                <a:spcPts val="800"/>
              </a:spcAft>
              <a:defRPr sz="1300">
                <a:solidFill>
                  <a:srgbClr val="F8FAFC"/>
                </a:solidFill>
              </a:defRPr>
            </a:pPr>
            <a:r>
              <a:t>• 5. Legal &amp; Statutory Demand Notices (NI Act)</a:t>
            </a:r>
          </a:p>
          <a:p>
            <a:pPr>
              <a:spcAft>
                <a:spcPts val="800"/>
              </a:spcAft>
              <a:defRPr sz="1300">
                <a:solidFill>
                  <a:srgbClr val="F8FAFC"/>
                </a:solidFill>
              </a:defRPr>
            </a:pPr>
            <a:r>
              <a:t>• RAG Context Scorer: Classifies queries to re-rank chunks matching the target legal category.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Test Suite Verification: 29/29 Passing Unit &amp; Integration Tests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[29/29 PASS] Verified System Capabilities</a:t>
            </a:r>
          </a:p>
          <a:p>
            <a:pPr>
              <a:spcAft>
                <a:spcPts val="800"/>
              </a:spcAft>
              <a:defRPr sz="1300">
                <a:solidFill>
                  <a:srgbClr val="F8FAFC"/>
                </a:solidFill>
              </a:defRPr>
            </a:pPr>
            <a:r>
              <a:t>• BM25 &amp; Vector Retrieval: Confirmed exact keyword and semantic recall.</a:t>
            </a:r>
          </a:p>
          <a:p>
            <a:pPr>
              <a:spcAft>
                <a:spcPts val="800"/>
              </a:spcAft>
              <a:defRPr sz="1300">
                <a:solidFill>
                  <a:srgbClr val="F8FAFC"/>
                </a:solidFill>
              </a:defRPr>
            </a:pPr>
            <a:r>
              <a:t>• Cross-Case Isolation: Verified 0% cross-case document leakage under stress.</a:t>
            </a:r>
          </a:p>
          <a:p>
            <a:pPr>
              <a:spcAft>
                <a:spcPts val="800"/>
              </a:spcAft>
              <a:defRPr sz="1300">
                <a:solidFill>
                  <a:srgbClr val="F8FAFC"/>
                </a:solidFill>
              </a:defRPr>
            </a:pPr>
            <a:r>
              <a:t>• Critic Rejection &amp; Fallback: Validated trigger of precedent proof fail-safe on unsupported claims.</a:t>
            </a:r>
          </a:p>
          <a:p>
            <a:pPr>
              <a:spcAft>
                <a:spcPts val="800"/>
              </a:spcAft>
              <a:defRPr sz="1300">
                <a:solidFill>
                  <a:srgbClr val="F8FAFC"/>
                </a:solidFill>
              </a:defRPr>
            </a:pPr>
            <a:r>
              <a:t>• Citation Provenance: Verified 100% match with authentic retrieved chunk metadata.</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[BENCHMARKS] Performance Benchmarks</a:t>
            </a:r>
          </a:p>
          <a:p>
            <a:pPr>
              <a:spcAft>
                <a:spcPts val="800"/>
              </a:spcAft>
              <a:defRPr sz="1300">
                <a:solidFill>
                  <a:srgbClr val="F8FAFC"/>
                </a:solidFill>
              </a:defRPr>
            </a:pPr>
            <a:r>
              <a:t>• Test Execution Speed: 29 tests pass in 1.58 seconds on standard hardware.</a:t>
            </a:r>
          </a:p>
          <a:p>
            <a:pPr>
              <a:spcAft>
                <a:spcPts val="800"/>
              </a:spcAft>
              <a:defRPr sz="1300">
                <a:solidFill>
                  <a:srgbClr val="F8FAFC"/>
                </a:solidFill>
              </a:defRPr>
            </a:pPr>
            <a:r>
              <a:t>• Offline Embedding Latency: Sub-10ms per text block without GPU acceleration.</a:t>
            </a:r>
          </a:p>
          <a:p>
            <a:pPr>
              <a:spcAft>
                <a:spcPts val="800"/>
              </a:spcAft>
              <a:defRPr sz="1300">
                <a:solidFill>
                  <a:srgbClr val="F8FAFC"/>
                </a:solidFill>
              </a:defRPr>
            </a:pPr>
            <a:r>
              <a:t>• Full RAG Pipeline Latency: Sub-second end-to-end response generation and audit.</a:t>
            </a:r>
          </a:p>
          <a:p>
            <a:pPr>
              <a:spcAft>
                <a:spcPts val="800"/>
              </a:spcAft>
              <a:defRPr sz="1300">
                <a:solidFill>
                  <a:srgbClr val="F8FAFC"/>
                </a:solidFill>
              </a:defRPr>
            </a:pPr>
            <a:r>
              <a:t>• Production Readiness: Cleanly committed and forced updated to GitHub main branch.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DATA DRIFTERS • CIVIL LEGAL AI PLATFORM</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Summary of Impact and Future Roadmap</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200"/>
              </a:spcAft>
              <a:defRPr sz="1800" b="1">
                <a:solidFill>
                  <a:srgbClr val="06B6D4"/>
                </a:solidFill>
              </a:defRPr>
            </a:pPr>
            <a:r>
              <a:t>[ACHIEVED] Key Achievements Delivered</a:t>
            </a:r>
          </a:p>
          <a:p>
            <a:pPr>
              <a:spcAft>
                <a:spcPts val="800"/>
              </a:spcAft>
              <a:defRPr sz="1300">
                <a:solidFill>
                  <a:srgbClr val="F8FAFC"/>
                </a:solidFill>
              </a:defRPr>
            </a:pPr>
            <a:r>
              <a:t>• Zero Hallucination Tolerance: Enforced through the Agentic Pre-Audit Critic.</a:t>
            </a:r>
          </a:p>
          <a:p>
            <a:pPr>
              <a:spcAft>
                <a:spcPts val="800"/>
              </a:spcAft>
              <a:defRPr sz="1300">
                <a:solidFill>
                  <a:srgbClr val="F8FAFC"/>
                </a:solidFill>
              </a:defRPr>
            </a:pPr>
            <a:r>
              <a:t>• Consensus Reasoning: Contradiction backtracking resolves inter-model discrepancies.</a:t>
            </a:r>
          </a:p>
          <a:p>
            <a:pPr>
              <a:spcAft>
                <a:spcPts val="800"/>
              </a:spcAft>
              <a:defRPr sz="1300">
                <a:solidFill>
                  <a:srgbClr val="F8FAFC"/>
                </a:solidFill>
              </a:defRPr>
            </a:pPr>
            <a:r>
              <a:t>• Total Data Privacy: 100% offline local execution protecting sensitive litigation.</a:t>
            </a:r>
          </a:p>
          <a:p>
            <a:pPr>
              <a:spcAft>
                <a:spcPts val="800"/>
              </a:spcAft>
              <a:defRPr sz="1300">
                <a:solidFill>
                  <a:srgbClr val="F8FAFC"/>
                </a:solidFill>
              </a:defRPr>
            </a:pPr>
            <a:r>
              <a:t>• High Scalability: PyArrow streaming handles massive court archives seamlessly.</a:t>
            </a:r>
          </a:p>
        </p:txBody>
      </p:sp>
      <p:sp>
        <p:nvSpPr>
          <p:cNvPr id="7" name="Rounded Rectangle 6"/>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200"/>
              </a:spcAft>
              <a:defRPr sz="1800" b="1">
                <a:solidFill>
                  <a:srgbClr val="06B6D4"/>
                </a:solidFill>
              </a:defRPr>
            </a:pPr>
            <a:r>
              <a:t>[ROADMAP] Future Development Roadmap</a:t>
            </a:r>
          </a:p>
          <a:p>
            <a:pPr>
              <a:spcAft>
                <a:spcPts val="800"/>
              </a:spcAft>
              <a:defRPr sz="1300">
                <a:solidFill>
                  <a:srgbClr val="F8FAFC"/>
                </a:solidFill>
              </a:defRPr>
            </a:pPr>
            <a:r>
              <a:t>• Judicial e-Courts Integration: Direct API connectors to national case registry databases.</a:t>
            </a:r>
          </a:p>
          <a:p>
            <a:pPr>
              <a:spcAft>
                <a:spcPts val="800"/>
              </a:spcAft>
              <a:defRPr sz="1300">
                <a:solidFill>
                  <a:srgbClr val="F8FAFC"/>
                </a:solidFill>
              </a:defRPr>
            </a:pPr>
            <a:r>
              <a:t>• Multimodal Evidence Extraction: OCR ingestion for handwritten police diaries and FIRs.</a:t>
            </a:r>
          </a:p>
          <a:p>
            <a:pPr>
              <a:spcAft>
                <a:spcPts val="800"/>
              </a:spcAft>
              <a:defRPr sz="1300">
                <a:solidFill>
                  <a:srgbClr val="F8FAFC"/>
                </a:solidFill>
              </a:defRPr>
            </a:pPr>
            <a:r>
              <a:t>• On-Premise GPU Acceleration: 4-bit quantized deployment of Qwen3-32B via vLLM.</a:t>
            </a:r>
          </a:p>
          <a:p>
            <a:pPr>
              <a:spcAft>
                <a:spcPts val="800"/>
              </a:spcAft>
              <a:defRPr sz="1300">
                <a:solidFill>
                  <a:srgbClr val="F8FAFC"/>
                </a:solidFill>
              </a:defRPr>
            </a:pPr>
            <a:r>
              <a:t>• Automated Pleading Drafts: Bail and written statement generation with verified citation trees.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